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embeddedFontLst>
    <p:embeddedFont>
      <p:font typeface="Andika" panose="020B0604020202020204" charset="0"/>
      <p:regular r:id="rId6"/>
    </p:embeddedFont>
    <p:embeddedFont>
      <p:font typeface="Andika Bold" panose="020B0604020202020204" charset="0"/>
      <p:regular r:id="rId7"/>
    </p:embeddedFont>
    <p:embeddedFont>
      <p:font typeface="Patrick Hand" panose="00000500000000000000" pitchFamily="2" charset="0"/>
      <p:regular r:id="rId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theme" Target="theme/theme1.xml"/><Relationship Id="rId5" Type="http://schemas.openxmlformats.org/officeDocument/2006/relationships/notesMaster" Target="notesMasters/notesMaster1.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789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practical shift: instead of checking a paper list, the user sees the current state of every seat. The same system handles the booking decision, protects availability, calculates the amount, and confirms the transaction with a receipt.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workflow to the Java concepts behind it. The user views the layout, selects a seat, validates availability, books, pays, and can cancel to release the seat. Classes and objects model the booking entities, data structures hold the state, and switch statements make the console easy to navigate. The next version can add smarter booking rules, richer pricing, recommendations, and multiple shows.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7F3EA"/>
          </a:solidFill>
          <a:ln/>
        </p:spPr>
      </p:sp>
      <p:sp>
        <p:nvSpPr>
          <p:cNvPr id="4" name="Shape 2"/>
          <p:cNvSpPr/>
          <p:nvPr/>
        </p:nvSpPr>
        <p:spPr>
          <a:xfrm>
            <a:off x="0" y="0"/>
            <a:ext cx="12191695" cy="6858099"/>
          </a:xfrm>
          <a:prstGeom prst="rect">
            <a:avLst/>
          </a:prstGeom>
          <a:solidFill>
            <a:srgbClr val="E4DCCB"/>
          </a:solidFill>
          <a:ln/>
        </p:spPr>
      </p:sp>
      <p:sp>
        <p:nvSpPr>
          <p:cNvPr id="5" name="Shape 3"/>
          <p:cNvSpPr/>
          <p:nvPr/>
        </p:nvSpPr>
        <p:spPr>
          <a:xfrm>
            <a:off x="0" y="0"/>
            <a:ext cx="12191695" cy="6858099"/>
          </a:xfrm>
          <a:prstGeom prst="rect">
            <a:avLst/>
          </a:prstGeom>
          <a:solidFill>
            <a:srgbClr val="F7F3EA"/>
          </a:solidFill>
          <a:ln/>
        </p:spPr>
      </p:sp>
      <p:pic>
        <p:nvPicPr>
          <p:cNvPr id="6"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Shape 0"/>
          <p:cNvSpPr/>
          <p:nvPr/>
        </p:nvSpPr>
        <p:spPr>
          <a:xfrm>
            <a:off x="9320" y="0"/>
            <a:ext cx="4876678" cy="6858099"/>
          </a:xfrm>
          <a:prstGeom prst="rect">
            <a:avLst/>
          </a:prstGeom>
          <a:solidFill>
            <a:srgbClr val="C8461A"/>
          </a:solidFill>
          <a:ln/>
        </p:spPr>
      </p:sp>
      <p:sp>
        <p:nvSpPr>
          <p:cNvPr id="4" name="Text 1"/>
          <p:cNvSpPr/>
          <p:nvPr/>
        </p:nvSpPr>
        <p:spPr>
          <a:xfrm>
            <a:off x="457189" y="353516"/>
            <a:ext cx="3905152" cy="2011561"/>
          </a:xfrm>
          <a:prstGeom prst="rect">
            <a:avLst/>
          </a:prstGeom>
          <a:noFill/>
          <a:ln/>
        </p:spPr>
        <p:txBody>
          <a:bodyPr wrap="square" lIns="0" tIns="0" rIns="0" bIns="0" rtlCol="0" anchor="t">
            <a:normAutofit/>
          </a:bodyPr>
          <a:lstStyle/>
          <a:p>
            <a:pPr marL="0" indent="0" algn="l">
              <a:lnSpc>
                <a:spcPct val="92000"/>
              </a:lnSpc>
              <a:buNone/>
            </a:pPr>
            <a:r>
              <a:rPr lang="en-US" sz="2800" dirty="0">
                <a:solidFill>
                  <a:srgbClr val="FFFFFF"/>
                </a:solidFill>
                <a:latin typeface="Patrick Hand" pitchFamily="34" charset="0"/>
                <a:ea typeface="Patrick Hand" pitchFamily="34" charset="-122"/>
                <a:cs typeface="Patrick Hand" pitchFamily="34" charset="-120"/>
              </a:rPr>
              <a:t>Capstone Project</a:t>
            </a:r>
            <a:endParaRPr lang="en-US" sz="2800" dirty="0"/>
          </a:p>
          <a:p>
            <a:pPr marL="0" indent="0" algn="l">
              <a:lnSpc>
                <a:spcPct val="92000"/>
              </a:lnSpc>
              <a:buNone/>
            </a:pPr>
            <a:r>
              <a:rPr lang="en-US" sz="4800" u="sng" dirty="0">
                <a:solidFill>
                  <a:srgbClr val="FFFFFF"/>
                </a:solidFill>
                <a:latin typeface="Patrick Hand" pitchFamily="34" charset="0"/>
                <a:ea typeface="Patrick Hand" pitchFamily="34" charset="-122"/>
                <a:cs typeface="Patrick Hand" pitchFamily="34" charset="-120"/>
              </a:rPr>
              <a:t>Cinema Seat Booking System</a:t>
            </a:r>
            <a:endParaRPr lang="en-US" sz="4800" u="sng" dirty="0"/>
          </a:p>
        </p:txBody>
      </p:sp>
      <p:sp>
        <p:nvSpPr>
          <p:cNvPr id="5" name="Text 2"/>
          <p:cNvSpPr/>
          <p:nvPr/>
        </p:nvSpPr>
        <p:spPr>
          <a:xfrm>
            <a:off x="514337" y="2794000"/>
            <a:ext cx="3848004" cy="914400"/>
          </a:xfrm>
          <a:prstGeom prst="rect">
            <a:avLst/>
          </a:prstGeom>
          <a:noFill/>
          <a:ln/>
        </p:spPr>
        <p:txBody>
          <a:bodyPr wrap="square" lIns="0" tIns="0" rIns="0" bIns="0" rtlCol="0" anchor="t">
            <a:noAutofit/>
          </a:bodyPr>
          <a:lstStyle/>
          <a:p>
            <a:pPr marL="0" indent="0" algn="l">
              <a:lnSpc>
                <a:spcPct val="125000"/>
              </a:lnSpc>
              <a:buNone/>
            </a:pPr>
            <a:r>
              <a:rPr lang="en-US" dirty="0">
                <a:solidFill>
                  <a:srgbClr val="FFFFFF"/>
                </a:solidFill>
                <a:latin typeface="Andika" pitchFamily="34" charset="0"/>
                <a:ea typeface="Andika" pitchFamily="34" charset="-122"/>
                <a:cs typeface="Andika" pitchFamily="34" charset="-120"/>
              </a:rPr>
              <a:t>Vayyala Dhikshitha - 2620030310</a:t>
            </a:r>
            <a:endParaRPr lang="en-US" dirty="0"/>
          </a:p>
          <a:p>
            <a:pPr marL="0" indent="0" algn="l">
              <a:lnSpc>
                <a:spcPct val="125000"/>
              </a:lnSpc>
              <a:buNone/>
            </a:pPr>
            <a:r>
              <a:rPr lang="en-US" dirty="0">
                <a:solidFill>
                  <a:srgbClr val="FFFFFF"/>
                </a:solidFill>
                <a:latin typeface="Andika" pitchFamily="34" charset="0"/>
                <a:ea typeface="Andika" pitchFamily="34" charset="-122"/>
                <a:cs typeface="Andika" pitchFamily="34" charset="-120"/>
              </a:rPr>
              <a:t>Rishvika Reddy - 2620080099</a:t>
            </a:r>
            <a:endParaRPr lang="en-US" dirty="0"/>
          </a:p>
          <a:p>
            <a:pPr marL="0" indent="0" algn="l">
              <a:lnSpc>
                <a:spcPct val="125000"/>
              </a:lnSpc>
              <a:buNone/>
            </a:pPr>
            <a:r>
              <a:rPr lang="en-US" dirty="0">
                <a:solidFill>
                  <a:srgbClr val="FFFFFF"/>
                </a:solidFill>
                <a:latin typeface="Andika" pitchFamily="34" charset="0"/>
                <a:ea typeface="Andika" pitchFamily="34" charset="-122"/>
                <a:cs typeface="Andika" pitchFamily="34" charset="-120"/>
              </a:rPr>
              <a:t>Section - 2</a:t>
            </a:r>
            <a:endParaRPr lang="en-US" dirty="0"/>
          </a:p>
        </p:txBody>
      </p:sp>
      <p:pic>
        <p:nvPicPr>
          <p:cNvPr id="6" name="Image 1" descr="preencoded.png"/>
          <p:cNvPicPr>
            <a:picLocks noChangeAspect="1"/>
          </p:cNvPicPr>
          <p:nvPr/>
        </p:nvPicPr>
        <p:blipFill>
          <a:blip r:embed="rId4"/>
          <a:stretch>
            <a:fillRect/>
          </a:stretch>
        </p:blipFill>
        <p:spPr>
          <a:xfrm>
            <a:off x="4885998" y="0"/>
            <a:ext cx="7315017" cy="68580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Shape 0"/>
          <p:cNvSpPr/>
          <p:nvPr/>
        </p:nvSpPr>
        <p:spPr>
          <a:xfrm>
            <a:off x="457189" y="514350"/>
            <a:ext cx="1015082" cy="430510"/>
          </a:xfrm>
          <a:prstGeom prst="rect">
            <a:avLst/>
          </a:prstGeom>
          <a:noFill/>
          <a:ln w="12700">
            <a:solidFill>
              <a:srgbClr val="3C6E9E"/>
            </a:solidFill>
            <a:prstDash val="solid"/>
          </a:ln>
          <a:effectLst>
            <a:outerShdw blurRad="127" dist="35560" dir="2700000" algn="bl" rotWithShape="0">
              <a:srgbClr val="3C6E9E">
                <a:alpha val="20000"/>
              </a:srgbClr>
            </a:outerShdw>
          </a:effectLst>
        </p:spPr>
      </p:sp>
      <p:sp>
        <p:nvSpPr>
          <p:cNvPr id="4" name="Text 1"/>
          <p:cNvSpPr/>
          <p:nvPr/>
        </p:nvSpPr>
        <p:spPr>
          <a:xfrm>
            <a:off x="596885" y="539750"/>
            <a:ext cx="1288125" cy="379710"/>
          </a:xfrm>
          <a:prstGeom prst="rect">
            <a:avLst/>
          </a:prstGeom>
          <a:noFill/>
          <a:ln/>
        </p:spPr>
        <p:txBody>
          <a:bodyPr wrap="none" lIns="0" tIns="0" rIns="0" bIns="0" rtlCol="0" anchor="t"/>
          <a:lstStyle/>
          <a:p>
            <a:pPr marL="0" indent="0" algn="l">
              <a:lnSpc>
                <a:spcPct val="96000"/>
              </a:lnSpc>
              <a:buNone/>
            </a:pPr>
            <a:r>
              <a:rPr lang="en-US" sz="2600" b="1" kern="0" spc="208" dirty="0">
                <a:solidFill>
                  <a:srgbClr val="3C6E9E"/>
                </a:solidFill>
                <a:latin typeface="Patrick Hand" pitchFamily="34" charset="0"/>
                <a:ea typeface="Patrick Hand" pitchFamily="34" charset="-122"/>
                <a:cs typeface="Patrick Hand" pitchFamily="34" charset="-120"/>
              </a:rPr>
              <a:t>JAVA</a:t>
            </a:r>
            <a:endParaRPr lang="en-US" sz="2600" dirty="0"/>
          </a:p>
        </p:txBody>
      </p:sp>
      <p:sp>
        <p:nvSpPr>
          <p:cNvPr id="5" name="Text 2"/>
          <p:cNvSpPr/>
          <p:nvPr/>
        </p:nvSpPr>
        <p:spPr>
          <a:xfrm>
            <a:off x="1599267" y="561975"/>
            <a:ext cx="2217285" cy="335260"/>
          </a:xfrm>
          <a:prstGeom prst="rect">
            <a:avLst/>
          </a:prstGeom>
          <a:noFill/>
          <a:ln/>
        </p:spPr>
        <p:txBody>
          <a:bodyPr wrap="none" lIns="0" tIns="0" rIns="0" bIns="0" rtlCol="0" anchor="t"/>
          <a:lstStyle/>
          <a:p>
            <a:pPr marL="0" indent="0" algn="l">
              <a:lnSpc>
                <a:spcPct val="100000"/>
              </a:lnSpc>
              <a:buNone/>
            </a:pPr>
            <a:r>
              <a:rPr lang="en-US" sz="2200" b="1" kern="0" spc="176" dirty="0">
                <a:solidFill>
                  <a:srgbClr val="3C6E9E"/>
                </a:solidFill>
                <a:latin typeface="Andika Bold" pitchFamily="34" charset="0"/>
                <a:ea typeface="Andika Bold" pitchFamily="34" charset="-122"/>
                <a:cs typeface="Andika Bold" pitchFamily="34" charset="-120"/>
              </a:rPr>
              <a:t>ABSTRACT</a:t>
            </a:r>
            <a:endParaRPr lang="en-US" sz="2200" dirty="0"/>
          </a:p>
        </p:txBody>
      </p:sp>
      <p:sp>
        <p:nvSpPr>
          <p:cNvPr id="6" name="Text 3"/>
          <p:cNvSpPr/>
          <p:nvPr/>
        </p:nvSpPr>
        <p:spPr>
          <a:xfrm>
            <a:off x="457189" y="1029891"/>
            <a:ext cx="6160537" cy="1117600"/>
          </a:xfrm>
          <a:prstGeom prst="rect">
            <a:avLst/>
          </a:prstGeom>
          <a:noFill/>
          <a:ln/>
        </p:spPr>
        <p:txBody>
          <a:bodyPr wrap="square" lIns="0" tIns="0" rIns="0" bIns="0" rtlCol="0" anchor="t">
            <a:normAutofit/>
          </a:bodyPr>
          <a:lstStyle/>
          <a:p>
            <a:pPr marL="0" indent="0" algn="l">
              <a:lnSpc>
                <a:spcPct val="92000"/>
              </a:lnSpc>
              <a:buNone/>
            </a:pPr>
            <a:r>
              <a:rPr lang="en-US" sz="4000" dirty="0">
                <a:solidFill>
                  <a:srgbClr val="2B2F36"/>
                </a:solidFill>
                <a:latin typeface="Patrick Hand" pitchFamily="34" charset="0"/>
                <a:ea typeface="Patrick Hand" pitchFamily="34" charset="-122"/>
                <a:cs typeface="Patrick Hand" pitchFamily="34" charset="-120"/>
              </a:rPr>
              <a:t>From paper booking to a live console view</a:t>
            </a:r>
            <a:endParaRPr lang="en-US" sz="4000" dirty="0"/>
          </a:p>
        </p:txBody>
      </p:sp>
      <p:sp>
        <p:nvSpPr>
          <p:cNvPr id="7" name="Text 4"/>
          <p:cNvSpPr/>
          <p:nvPr/>
        </p:nvSpPr>
        <p:spPr>
          <a:xfrm>
            <a:off x="457189" y="2476798"/>
            <a:ext cx="6160537" cy="4622602"/>
          </a:xfrm>
          <a:prstGeom prst="rect">
            <a:avLst/>
          </a:prstGeom>
          <a:noFill/>
          <a:ln/>
        </p:spPr>
        <p:txBody>
          <a:bodyPr wrap="square" lIns="0" tIns="0" rIns="0" bIns="0" rtlCol="0" anchor="t">
            <a:normAutofit/>
          </a:bodyPr>
          <a:lstStyle/>
          <a:p>
            <a:pPr marL="0" indent="0" algn="l">
              <a:lnSpc>
                <a:spcPct val="117000"/>
              </a:lnSpc>
              <a:buNone/>
            </a:pPr>
            <a:r>
              <a:rPr lang="en-US" sz="2400" dirty="0">
                <a:solidFill>
                  <a:srgbClr val="2B2F36"/>
                </a:solidFill>
                <a:latin typeface="Andika" pitchFamily="34" charset="0"/>
                <a:ea typeface="Andika" pitchFamily="34" charset="-122"/>
                <a:cs typeface="Andika" pitchFamily="34" charset="-120"/>
              </a:rPr>
              <a:t>This console-based Java mini-project replaces manual, paper-based cinema booking. Users can view the live seat layout, check availability, book seats, and cancel bookings. Available seats appear as </a:t>
            </a:r>
            <a:r>
              <a:rPr lang="en-US" sz="2400" b="1" dirty="0">
                <a:solidFill>
                  <a:srgbClr val="2B2F36"/>
                </a:solidFill>
                <a:latin typeface="Andika Bold" pitchFamily="34" charset="0"/>
                <a:ea typeface="Andika Bold" pitchFamily="34" charset="-122"/>
                <a:cs typeface="Andika Bold" pitchFamily="34" charset="-120"/>
              </a:rPr>
              <a:t>[0]</a:t>
            </a:r>
            <a:r>
              <a:rPr lang="en-US" sz="2400" dirty="0">
                <a:solidFill>
                  <a:srgbClr val="2B2F36"/>
                </a:solidFill>
                <a:latin typeface="Andika" pitchFamily="34" charset="0"/>
                <a:ea typeface="Andika" pitchFamily="34" charset="-122"/>
                <a:cs typeface="Andika" pitchFamily="34" charset="-120"/>
              </a:rPr>
              <a:t>; booked seats appear as </a:t>
            </a:r>
            <a:r>
              <a:rPr lang="en-US" sz="2400" b="1" dirty="0">
                <a:solidFill>
                  <a:srgbClr val="2B2F36"/>
                </a:solidFill>
                <a:latin typeface="Andika Bold" pitchFamily="34" charset="0"/>
                <a:ea typeface="Andika Bold" pitchFamily="34" charset="-122"/>
                <a:cs typeface="Andika Bold" pitchFamily="34" charset="-120"/>
              </a:rPr>
              <a:t>[1]</a:t>
            </a:r>
            <a:r>
              <a:rPr lang="en-US" sz="2400" dirty="0">
                <a:solidFill>
                  <a:srgbClr val="2B2F36"/>
                </a:solidFill>
                <a:latin typeface="Andika" pitchFamily="34" charset="0"/>
                <a:ea typeface="Andika" pitchFamily="34" charset="-122"/>
                <a:cs typeface="Andika" pitchFamily="34" charset="-120"/>
              </a:rPr>
              <a:t>. Instant status updates prevent double booking, while automated pricing and receipts remove manual calculation.</a:t>
            </a:r>
            <a:endParaRPr lang="en-US" sz="2400" dirty="0"/>
          </a:p>
        </p:txBody>
      </p:sp>
      <p:pic>
        <p:nvPicPr>
          <p:cNvPr id="8" name="Image 1" descr="preencoded.png"/>
          <p:cNvPicPr>
            <a:picLocks noChangeAspect="1"/>
          </p:cNvPicPr>
          <p:nvPr/>
        </p:nvPicPr>
        <p:blipFill>
          <a:blip r:embed="rId4"/>
          <a:stretch>
            <a:fillRect/>
          </a:stretch>
        </p:blipFill>
        <p:spPr>
          <a:xfrm>
            <a:off x="7436755" y="0"/>
            <a:ext cx="4754840" cy="6858099"/>
          </a:xfrm>
          <a:prstGeom prst="rect">
            <a:avLst/>
          </a:prstGeom>
        </p:spPr>
      </p:pic>
      <p:sp>
        <p:nvSpPr>
          <p:cNvPr id="9" name="Shape 5"/>
          <p:cNvSpPr/>
          <p:nvPr/>
        </p:nvSpPr>
        <p:spPr>
          <a:xfrm>
            <a:off x="7437259" y="-656034"/>
            <a:ext cx="4754741" cy="7843242"/>
          </a:xfrm>
          <a:prstGeom prst="rect">
            <a:avLst/>
          </a:prstGeom>
          <a:solidFill>
            <a:srgbClr val="FFFFFF">
              <a:alpha val="15000"/>
            </a:srgbClr>
          </a:solidFill>
          <a:ln/>
        </p:spPr>
      </p:sp>
      <p:sp>
        <p:nvSpPr>
          <p:cNvPr id="10" name="Shape 6"/>
          <p:cNvSpPr/>
          <p:nvPr/>
        </p:nvSpPr>
        <p:spPr>
          <a:xfrm>
            <a:off x="7874894" y="438150"/>
            <a:ext cx="3878562" cy="1655862"/>
          </a:xfrm>
          <a:prstGeom prst="rect">
            <a:avLst/>
          </a:prstGeom>
          <a:noFill/>
          <a:ln w="38099">
            <a:solidFill>
              <a:srgbClr val="5587B7"/>
            </a:solidFill>
            <a:prstDash val="solid"/>
          </a:ln>
        </p:spPr>
      </p:sp>
      <p:sp>
        <p:nvSpPr>
          <p:cNvPr id="11" name="Text 7"/>
          <p:cNvSpPr/>
          <p:nvPr/>
        </p:nvSpPr>
        <p:spPr>
          <a:xfrm>
            <a:off x="8592426" y="622300"/>
            <a:ext cx="2919736" cy="457200"/>
          </a:xfrm>
          <a:prstGeom prst="rect">
            <a:avLst/>
          </a:prstGeom>
          <a:noFill/>
          <a:ln/>
        </p:spPr>
        <p:txBody>
          <a:bodyPr wrap="none" lIns="0" tIns="0" rIns="0" bIns="0" rtlCol="0" anchor="t"/>
          <a:lstStyle/>
          <a:p>
            <a:pPr marL="0" indent="0" algn="l">
              <a:lnSpc>
                <a:spcPct val="100000"/>
              </a:lnSpc>
              <a:buNone/>
            </a:pPr>
            <a:r>
              <a:rPr lang="en-US" sz="3000" b="1" dirty="0">
                <a:solidFill>
                  <a:schemeClr val="bg2"/>
                </a:solidFill>
                <a:latin typeface="Andika Bold" pitchFamily="34" charset="0"/>
                <a:ea typeface="Andika Bold" pitchFamily="34" charset="-122"/>
                <a:cs typeface="Andika Bold" pitchFamily="34" charset="-120"/>
              </a:rPr>
              <a:t>View</a:t>
            </a:r>
            <a:endParaRPr lang="en-US" sz="3000" dirty="0">
              <a:solidFill>
                <a:schemeClr val="bg2"/>
              </a:solidFill>
            </a:endParaRPr>
          </a:p>
        </p:txBody>
      </p:sp>
      <p:sp>
        <p:nvSpPr>
          <p:cNvPr id="12" name="Text 8"/>
          <p:cNvSpPr/>
          <p:nvPr/>
        </p:nvSpPr>
        <p:spPr>
          <a:xfrm>
            <a:off x="8592426" y="1116509"/>
            <a:ext cx="2919736" cy="759817"/>
          </a:xfrm>
          <a:prstGeom prst="rect">
            <a:avLst/>
          </a:prstGeom>
          <a:noFill/>
          <a:ln/>
        </p:spPr>
        <p:txBody>
          <a:bodyPr wrap="square" lIns="0" tIns="0" rIns="0" bIns="0" rtlCol="0" anchor="t">
            <a:normAutofit/>
          </a:bodyPr>
          <a:lstStyle/>
          <a:p>
            <a:pPr marL="0" indent="0" algn="l">
              <a:lnSpc>
                <a:spcPct val="113000"/>
              </a:lnSpc>
              <a:buNone/>
            </a:pPr>
            <a:r>
              <a:rPr lang="en-US" sz="2200" dirty="0">
                <a:solidFill>
                  <a:schemeClr val="bg2"/>
                </a:solidFill>
                <a:latin typeface="Andika" pitchFamily="34" charset="0"/>
                <a:ea typeface="Andika" pitchFamily="34" charset="-122"/>
                <a:cs typeface="Andika" pitchFamily="34" charset="-120"/>
              </a:rPr>
              <a:t>See the current 2D layout</a:t>
            </a:r>
            <a:r>
              <a:rPr lang="en-US" sz="2200" dirty="0">
                <a:solidFill>
                  <a:srgbClr val="000000"/>
                </a:solidFill>
                <a:latin typeface="Andika" pitchFamily="34" charset="0"/>
                <a:ea typeface="Andika" pitchFamily="34" charset="-122"/>
                <a:cs typeface="Andika" pitchFamily="34" charset="-120"/>
              </a:rPr>
              <a:t>.</a:t>
            </a:r>
            <a:endParaRPr lang="en-US" sz="2200" dirty="0"/>
          </a:p>
        </p:txBody>
      </p:sp>
      <p:sp>
        <p:nvSpPr>
          <p:cNvPr id="13" name="Shape 9"/>
          <p:cNvSpPr/>
          <p:nvPr/>
        </p:nvSpPr>
        <p:spPr>
          <a:xfrm>
            <a:off x="7874894" y="2208510"/>
            <a:ext cx="3878562" cy="1655862"/>
          </a:xfrm>
          <a:prstGeom prst="rect">
            <a:avLst/>
          </a:prstGeom>
          <a:noFill/>
          <a:ln w="38099">
            <a:solidFill>
              <a:srgbClr val="5587B7"/>
            </a:solidFill>
            <a:prstDash val="solid"/>
          </a:ln>
        </p:spPr>
      </p:sp>
      <p:sp>
        <p:nvSpPr>
          <p:cNvPr id="14" name="Text 10"/>
          <p:cNvSpPr/>
          <p:nvPr/>
        </p:nvSpPr>
        <p:spPr>
          <a:xfrm>
            <a:off x="8592426" y="2392660"/>
            <a:ext cx="2919736" cy="457200"/>
          </a:xfrm>
          <a:prstGeom prst="rect">
            <a:avLst/>
          </a:prstGeom>
          <a:noFill/>
          <a:ln/>
        </p:spPr>
        <p:txBody>
          <a:bodyPr wrap="none" lIns="0" tIns="0" rIns="0" bIns="0" rtlCol="0" anchor="t"/>
          <a:lstStyle/>
          <a:p>
            <a:pPr marL="0" indent="0" algn="l">
              <a:lnSpc>
                <a:spcPct val="100000"/>
              </a:lnSpc>
              <a:buNone/>
            </a:pPr>
            <a:r>
              <a:rPr lang="en-US" sz="3000" b="1" dirty="0">
                <a:solidFill>
                  <a:schemeClr val="bg2"/>
                </a:solidFill>
                <a:latin typeface="Andika Bold" pitchFamily="34" charset="0"/>
                <a:ea typeface="Andika Bold" pitchFamily="34" charset="-122"/>
                <a:cs typeface="Andika Bold" pitchFamily="34" charset="-120"/>
              </a:rPr>
              <a:t>Book</a:t>
            </a:r>
            <a:endParaRPr lang="en-US" sz="3000" dirty="0">
              <a:solidFill>
                <a:schemeClr val="bg2"/>
              </a:solidFill>
            </a:endParaRPr>
          </a:p>
        </p:txBody>
      </p:sp>
      <p:sp>
        <p:nvSpPr>
          <p:cNvPr id="15" name="Text 11"/>
          <p:cNvSpPr/>
          <p:nvPr/>
        </p:nvSpPr>
        <p:spPr>
          <a:xfrm>
            <a:off x="8592426" y="2886869"/>
            <a:ext cx="2919736" cy="759817"/>
          </a:xfrm>
          <a:prstGeom prst="rect">
            <a:avLst/>
          </a:prstGeom>
          <a:noFill/>
          <a:ln/>
        </p:spPr>
        <p:txBody>
          <a:bodyPr wrap="square" lIns="0" tIns="0" rIns="0" bIns="0" rtlCol="0" anchor="t">
            <a:normAutofit/>
          </a:bodyPr>
          <a:lstStyle/>
          <a:p>
            <a:pPr marL="0" indent="0" algn="l">
              <a:lnSpc>
                <a:spcPct val="113000"/>
              </a:lnSpc>
              <a:buNone/>
            </a:pPr>
            <a:r>
              <a:rPr lang="en-US" sz="2200" dirty="0">
                <a:solidFill>
                  <a:schemeClr val="bg2"/>
                </a:solidFill>
                <a:latin typeface="Andika" pitchFamily="34" charset="0"/>
                <a:ea typeface="Andika" pitchFamily="34" charset="-122"/>
                <a:cs typeface="Andika" pitchFamily="34" charset="-120"/>
              </a:rPr>
              <a:t>Reserve an available seat.</a:t>
            </a:r>
            <a:endParaRPr lang="en-US" sz="2200" dirty="0">
              <a:solidFill>
                <a:schemeClr val="bg2"/>
              </a:solidFill>
            </a:endParaRPr>
          </a:p>
        </p:txBody>
      </p:sp>
      <p:sp>
        <p:nvSpPr>
          <p:cNvPr id="16" name="Shape 12"/>
          <p:cNvSpPr/>
          <p:nvPr/>
        </p:nvSpPr>
        <p:spPr>
          <a:xfrm>
            <a:off x="7874894" y="3978771"/>
            <a:ext cx="3878562" cy="1655862"/>
          </a:xfrm>
          <a:prstGeom prst="rect">
            <a:avLst/>
          </a:prstGeom>
          <a:noFill/>
          <a:ln w="38099">
            <a:solidFill>
              <a:srgbClr val="5587B7"/>
            </a:solidFill>
            <a:prstDash val="solid"/>
          </a:ln>
        </p:spPr>
      </p:sp>
      <p:sp>
        <p:nvSpPr>
          <p:cNvPr id="17" name="Text 13"/>
          <p:cNvSpPr/>
          <p:nvPr/>
        </p:nvSpPr>
        <p:spPr>
          <a:xfrm>
            <a:off x="8592426" y="4162921"/>
            <a:ext cx="2919736" cy="457200"/>
          </a:xfrm>
          <a:prstGeom prst="rect">
            <a:avLst/>
          </a:prstGeom>
          <a:noFill/>
          <a:ln/>
        </p:spPr>
        <p:txBody>
          <a:bodyPr wrap="none" lIns="0" tIns="0" rIns="0" bIns="0" rtlCol="0" anchor="t"/>
          <a:lstStyle/>
          <a:p>
            <a:pPr marL="0" indent="0" algn="l">
              <a:lnSpc>
                <a:spcPct val="100000"/>
              </a:lnSpc>
              <a:buNone/>
            </a:pPr>
            <a:r>
              <a:rPr lang="en-US" sz="3000" b="1" dirty="0">
                <a:solidFill>
                  <a:schemeClr val="bg2"/>
                </a:solidFill>
                <a:latin typeface="Andika Bold" pitchFamily="34" charset="0"/>
                <a:ea typeface="Andika Bold" pitchFamily="34" charset="-122"/>
                <a:cs typeface="Andika Bold" pitchFamily="34" charset="-120"/>
              </a:rPr>
              <a:t>Cancel</a:t>
            </a:r>
            <a:endParaRPr lang="en-US" sz="3000" dirty="0">
              <a:solidFill>
                <a:schemeClr val="bg2"/>
              </a:solidFill>
            </a:endParaRPr>
          </a:p>
        </p:txBody>
      </p:sp>
      <p:sp>
        <p:nvSpPr>
          <p:cNvPr id="18" name="Text 14"/>
          <p:cNvSpPr/>
          <p:nvPr/>
        </p:nvSpPr>
        <p:spPr>
          <a:xfrm>
            <a:off x="8592426" y="4657130"/>
            <a:ext cx="2919736" cy="759817"/>
          </a:xfrm>
          <a:prstGeom prst="rect">
            <a:avLst/>
          </a:prstGeom>
          <a:noFill/>
          <a:ln/>
        </p:spPr>
        <p:txBody>
          <a:bodyPr wrap="square" lIns="0" tIns="0" rIns="0" bIns="0" rtlCol="0" anchor="t">
            <a:normAutofit/>
          </a:bodyPr>
          <a:lstStyle/>
          <a:p>
            <a:pPr marL="0" indent="0" algn="l">
              <a:lnSpc>
                <a:spcPct val="113000"/>
              </a:lnSpc>
              <a:buNone/>
            </a:pPr>
            <a:r>
              <a:rPr lang="en-US" sz="2200" dirty="0">
                <a:solidFill>
                  <a:schemeClr val="bg2"/>
                </a:solidFill>
                <a:latin typeface="Andika" pitchFamily="34" charset="0"/>
                <a:ea typeface="Andika" pitchFamily="34" charset="-122"/>
                <a:cs typeface="Andika" pitchFamily="34" charset="-120"/>
              </a:rPr>
              <a:t>Release the seat immediately</a:t>
            </a:r>
            <a:r>
              <a:rPr lang="en-US" sz="2200" dirty="0">
                <a:solidFill>
                  <a:srgbClr val="000000"/>
                </a:solidFill>
                <a:latin typeface="Andika" pitchFamily="34" charset="0"/>
                <a:ea typeface="Andika" pitchFamily="34" charset="-122"/>
                <a:cs typeface="Andika" pitchFamily="34" charset="-120"/>
              </a:rPr>
              <a:t>.</a:t>
            </a:r>
            <a:endParaRPr lang="en-US" sz="2200" dirty="0"/>
          </a:p>
        </p:txBody>
      </p:sp>
      <p:sp>
        <p:nvSpPr>
          <p:cNvPr id="19" name="Shape 15"/>
          <p:cNvSpPr/>
          <p:nvPr/>
        </p:nvSpPr>
        <p:spPr>
          <a:xfrm>
            <a:off x="7874894" y="5749032"/>
            <a:ext cx="3878562" cy="1655862"/>
          </a:xfrm>
          <a:prstGeom prst="rect">
            <a:avLst/>
          </a:prstGeom>
          <a:noFill/>
          <a:ln w="38099">
            <a:solidFill>
              <a:srgbClr val="5587B7"/>
            </a:solidFill>
            <a:prstDash val="solid"/>
          </a:ln>
        </p:spPr>
      </p:sp>
      <p:sp>
        <p:nvSpPr>
          <p:cNvPr id="20" name="Text 16"/>
          <p:cNvSpPr/>
          <p:nvPr/>
        </p:nvSpPr>
        <p:spPr>
          <a:xfrm>
            <a:off x="8592426" y="5933182"/>
            <a:ext cx="2919736" cy="457200"/>
          </a:xfrm>
          <a:prstGeom prst="rect">
            <a:avLst/>
          </a:prstGeom>
          <a:noFill/>
          <a:ln/>
        </p:spPr>
        <p:txBody>
          <a:bodyPr wrap="none" lIns="0" tIns="0" rIns="0" bIns="0" rtlCol="0" anchor="t"/>
          <a:lstStyle/>
          <a:p>
            <a:pPr marL="0" indent="0" algn="l">
              <a:lnSpc>
                <a:spcPct val="100000"/>
              </a:lnSpc>
              <a:buNone/>
            </a:pPr>
            <a:r>
              <a:rPr lang="en-US" sz="3000" b="1" dirty="0">
                <a:solidFill>
                  <a:schemeClr val="bg2"/>
                </a:solidFill>
                <a:latin typeface="Andika Bold" pitchFamily="34" charset="0"/>
                <a:ea typeface="Andika Bold" pitchFamily="34" charset="-122"/>
                <a:cs typeface="Andika Bold" pitchFamily="34" charset="-120"/>
              </a:rPr>
              <a:t>Pay</a:t>
            </a:r>
            <a:endParaRPr lang="en-US" sz="3000" dirty="0">
              <a:solidFill>
                <a:schemeClr val="bg2"/>
              </a:solidFill>
            </a:endParaRPr>
          </a:p>
        </p:txBody>
      </p:sp>
      <p:sp>
        <p:nvSpPr>
          <p:cNvPr id="21" name="Text 17"/>
          <p:cNvSpPr/>
          <p:nvPr/>
        </p:nvSpPr>
        <p:spPr>
          <a:xfrm>
            <a:off x="8592426" y="6427391"/>
            <a:ext cx="2919736" cy="759817"/>
          </a:xfrm>
          <a:prstGeom prst="rect">
            <a:avLst/>
          </a:prstGeom>
          <a:noFill/>
          <a:ln/>
        </p:spPr>
        <p:txBody>
          <a:bodyPr wrap="square" lIns="0" tIns="0" rIns="0" bIns="0" rtlCol="0" anchor="t">
            <a:normAutofit/>
          </a:bodyPr>
          <a:lstStyle/>
          <a:p>
            <a:pPr marL="0" indent="0" algn="l">
              <a:lnSpc>
                <a:spcPct val="113000"/>
              </a:lnSpc>
              <a:buNone/>
            </a:pPr>
            <a:r>
              <a:rPr lang="en-US" sz="2200" dirty="0">
                <a:solidFill>
                  <a:schemeClr val="bg2"/>
                </a:solidFill>
                <a:latin typeface="Andika" pitchFamily="34" charset="0"/>
                <a:ea typeface="Andika" pitchFamily="34" charset="-122"/>
                <a:cs typeface="Andika" pitchFamily="34" charset="-120"/>
              </a:rPr>
              <a:t>Calculate price and print a receipt</a:t>
            </a:r>
            <a:r>
              <a:rPr lang="en-US" sz="2200" dirty="0">
                <a:solidFill>
                  <a:srgbClr val="000000"/>
                </a:solidFill>
                <a:latin typeface="Andika" pitchFamily="34" charset="0"/>
                <a:ea typeface="Andika" pitchFamily="34" charset="-122"/>
                <a:cs typeface="Andika" pitchFamily="34" charset="-120"/>
              </a:rPr>
              <a:t>.</a:t>
            </a:r>
            <a:endParaRPr lang="en-US" sz="2200" dirty="0"/>
          </a:p>
        </p:txBody>
      </p:sp>
      <p:pic>
        <p:nvPicPr>
          <p:cNvPr id="22" name="Image 2" descr="preencoded.png"/>
          <p:cNvPicPr>
            <a:picLocks noChangeAspect="1"/>
          </p:cNvPicPr>
          <p:nvPr/>
        </p:nvPicPr>
        <p:blipFill>
          <a:blip r:embed="rId5"/>
          <a:stretch>
            <a:fillRect/>
          </a:stretch>
        </p:blipFill>
        <p:spPr>
          <a:xfrm>
            <a:off x="8059040" y="666750"/>
            <a:ext cx="330192" cy="330200"/>
          </a:xfrm>
          <a:prstGeom prst="rect">
            <a:avLst/>
          </a:prstGeom>
        </p:spPr>
      </p:pic>
      <p:pic>
        <p:nvPicPr>
          <p:cNvPr id="23" name="Image 3" descr="preencoded.png"/>
          <p:cNvPicPr>
            <a:picLocks noChangeAspect="1"/>
          </p:cNvPicPr>
          <p:nvPr/>
        </p:nvPicPr>
        <p:blipFill>
          <a:blip r:embed="rId6"/>
          <a:stretch>
            <a:fillRect/>
          </a:stretch>
        </p:blipFill>
        <p:spPr>
          <a:xfrm>
            <a:off x="8059040" y="2437110"/>
            <a:ext cx="330192" cy="330200"/>
          </a:xfrm>
          <a:prstGeom prst="rect">
            <a:avLst/>
          </a:prstGeom>
        </p:spPr>
      </p:pic>
      <p:pic>
        <p:nvPicPr>
          <p:cNvPr id="24" name="Image 4" descr="preencoded.png"/>
          <p:cNvPicPr>
            <a:picLocks noChangeAspect="1"/>
          </p:cNvPicPr>
          <p:nvPr/>
        </p:nvPicPr>
        <p:blipFill>
          <a:blip r:embed="rId7"/>
          <a:stretch>
            <a:fillRect/>
          </a:stretch>
        </p:blipFill>
        <p:spPr>
          <a:xfrm>
            <a:off x="8059040" y="4207371"/>
            <a:ext cx="330192" cy="330200"/>
          </a:xfrm>
          <a:prstGeom prst="rect">
            <a:avLst/>
          </a:prstGeom>
        </p:spPr>
      </p:pic>
      <p:pic>
        <p:nvPicPr>
          <p:cNvPr id="25" name="Image 5" descr="preencoded.png"/>
          <p:cNvPicPr>
            <a:picLocks noChangeAspect="1"/>
          </p:cNvPicPr>
          <p:nvPr/>
        </p:nvPicPr>
        <p:blipFill>
          <a:blip r:embed="rId8"/>
          <a:stretch>
            <a:fillRect/>
          </a:stretch>
        </p:blipFill>
        <p:spPr>
          <a:xfrm>
            <a:off x="8059040" y="5977632"/>
            <a:ext cx="330192"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Shape 0"/>
          <p:cNvSpPr/>
          <p:nvPr/>
        </p:nvSpPr>
        <p:spPr>
          <a:xfrm>
            <a:off x="457189" y="514350"/>
            <a:ext cx="1018753" cy="430510"/>
          </a:xfrm>
          <a:prstGeom prst="rect">
            <a:avLst/>
          </a:prstGeom>
          <a:noFill/>
          <a:ln w="12700">
            <a:solidFill>
              <a:srgbClr val="3C6E9E"/>
            </a:solidFill>
            <a:prstDash val="solid"/>
          </a:ln>
          <a:effectLst>
            <a:outerShdw blurRad="127" dist="35560" dir="2700000" algn="bl" rotWithShape="0">
              <a:srgbClr val="3C6E9E">
                <a:alpha val="20000"/>
              </a:srgbClr>
            </a:outerShdw>
          </a:effectLst>
        </p:spPr>
      </p:sp>
      <p:sp>
        <p:nvSpPr>
          <p:cNvPr id="4" name="Text 1"/>
          <p:cNvSpPr/>
          <p:nvPr/>
        </p:nvSpPr>
        <p:spPr>
          <a:xfrm>
            <a:off x="596885" y="539750"/>
            <a:ext cx="1291796" cy="379710"/>
          </a:xfrm>
          <a:prstGeom prst="rect">
            <a:avLst/>
          </a:prstGeom>
          <a:noFill/>
          <a:ln/>
        </p:spPr>
        <p:txBody>
          <a:bodyPr wrap="none" lIns="0" tIns="0" rIns="0" bIns="0" rtlCol="0" anchor="t"/>
          <a:lstStyle/>
          <a:p>
            <a:pPr marL="0" indent="0" algn="l">
              <a:lnSpc>
                <a:spcPct val="96000"/>
              </a:lnSpc>
              <a:buNone/>
            </a:pPr>
            <a:r>
              <a:rPr lang="en-US" sz="2600" b="1" kern="0" spc="208" dirty="0">
                <a:solidFill>
                  <a:srgbClr val="3C6E9E"/>
                </a:solidFill>
                <a:latin typeface="Patrick Hand" pitchFamily="34" charset="0"/>
                <a:ea typeface="Patrick Hand" pitchFamily="34" charset="-122"/>
                <a:cs typeface="Patrick Hand" pitchFamily="34" charset="-120"/>
              </a:rPr>
              <a:t>FLOW</a:t>
            </a:r>
            <a:endParaRPr lang="en-US" sz="2600" dirty="0"/>
          </a:p>
        </p:txBody>
      </p:sp>
      <p:sp>
        <p:nvSpPr>
          <p:cNvPr id="5" name="Text 2"/>
          <p:cNvSpPr/>
          <p:nvPr/>
        </p:nvSpPr>
        <p:spPr>
          <a:xfrm>
            <a:off x="1602938" y="561975"/>
            <a:ext cx="4399845" cy="335260"/>
          </a:xfrm>
          <a:prstGeom prst="rect">
            <a:avLst/>
          </a:prstGeom>
          <a:noFill/>
          <a:ln/>
        </p:spPr>
        <p:txBody>
          <a:bodyPr wrap="none" lIns="0" tIns="0" rIns="0" bIns="0" rtlCol="0" anchor="t"/>
          <a:lstStyle/>
          <a:p>
            <a:pPr marL="0" indent="0" algn="l">
              <a:lnSpc>
                <a:spcPct val="100000"/>
              </a:lnSpc>
              <a:buNone/>
            </a:pPr>
            <a:r>
              <a:rPr lang="en-US" sz="2200" b="1" kern="0" spc="176" dirty="0">
                <a:solidFill>
                  <a:srgbClr val="3C6E9E"/>
                </a:solidFill>
                <a:latin typeface="Andika Bold" pitchFamily="34" charset="0"/>
                <a:ea typeface="Andika Bold" pitchFamily="34" charset="-122"/>
                <a:cs typeface="Andika Bold" pitchFamily="34" charset="-120"/>
              </a:rPr>
              <a:t>HOW IT WORKS + NEXT</a:t>
            </a:r>
            <a:endParaRPr lang="en-US" sz="2200" dirty="0"/>
          </a:p>
        </p:txBody>
      </p:sp>
      <p:sp>
        <p:nvSpPr>
          <p:cNvPr id="6" name="Text 3"/>
          <p:cNvSpPr/>
          <p:nvPr/>
        </p:nvSpPr>
        <p:spPr>
          <a:xfrm>
            <a:off x="457189" y="1116310"/>
            <a:ext cx="10111328" cy="558800"/>
          </a:xfrm>
          <a:prstGeom prst="rect">
            <a:avLst/>
          </a:prstGeom>
          <a:noFill/>
          <a:ln/>
        </p:spPr>
        <p:txBody>
          <a:bodyPr wrap="none" lIns="0" tIns="0" rIns="0" bIns="0" rtlCol="0" anchor="t"/>
          <a:lstStyle/>
          <a:p>
            <a:pPr marL="0" indent="0" algn="l">
              <a:lnSpc>
                <a:spcPct val="92000"/>
              </a:lnSpc>
              <a:buNone/>
            </a:pPr>
            <a:r>
              <a:rPr lang="en-US" sz="4000" dirty="0">
                <a:solidFill>
                  <a:srgbClr val="2B2F36"/>
                </a:solidFill>
                <a:latin typeface="Patrick Hand" pitchFamily="34" charset="0"/>
                <a:ea typeface="Patrick Hand" pitchFamily="34" charset="-122"/>
                <a:cs typeface="Patrick Hand" pitchFamily="34" charset="-120"/>
              </a:rPr>
              <a:t>From seat choice to a stronger Java system</a:t>
            </a:r>
            <a:endParaRPr lang="en-US" sz="4000" dirty="0"/>
          </a:p>
        </p:txBody>
      </p:sp>
      <p:sp>
        <p:nvSpPr>
          <p:cNvPr id="7" name="Text 4"/>
          <p:cNvSpPr/>
          <p:nvPr/>
        </p:nvSpPr>
        <p:spPr>
          <a:xfrm>
            <a:off x="457189" y="1957685"/>
            <a:ext cx="952179" cy="330200"/>
          </a:xfrm>
          <a:prstGeom prst="rect">
            <a:avLst/>
          </a:prstGeom>
          <a:noFill/>
          <a:ln/>
        </p:spPr>
        <p:txBody>
          <a:bodyPr wrap="none" lIns="0" tIns="0" rIns="0" bIns="0" rtlCol="0" anchor="t"/>
          <a:lstStyle/>
          <a:p>
            <a:pPr marL="0" indent="0" algn="l">
              <a:lnSpc>
                <a:spcPct val="83000"/>
              </a:lnSpc>
              <a:buNone/>
            </a:pPr>
            <a:r>
              <a:rPr lang="en-US" sz="2600" b="1" dirty="0">
                <a:solidFill>
                  <a:srgbClr val="C8461A"/>
                </a:solidFill>
                <a:latin typeface="Andika Bold" pitchFamily="34" charset="0"/>
                <a:ea typeface="Andika Bold" pitchFamily="34" charset="-122"/>
                <a:cs typeface="Andika Bold" pitchFamily="34" charset="-120"/>
              </a:rPr>
              <a:t>01</a:t>
            </a:r>
            <a:endParaRPr lang="en-US" sz="2600" dirty="0"/>
          </a:p>
        </p:txBody>
      </p:sp>
      <p:sp>
        <p:nvSpPr>
          <p:cNvPr id="8" name="Shape 5"/>
          <p:cNvSpPr/>
          <p:nvPr/>
        </p:nvSpPr>
        <p:spPr>
          <a:xfrm>
            <a:off x="457189" y="2419945"/>
            <a:ext cx="1361346" cy="19050"/>
          </a:xfrm>
          <a:prstGeom prst="rect">
            <a:avLst/>
          </a:prstGeom>
          <a:solidFill>
            <a:srgbClr val="C8461A"/>
          </a:solidFill>
          <a:ln/>
        </p:spPr>
      </p:sp>
      <p:sp>
        <p:nvSpPr>
          <p:cNvPr id="9" name="Text 6"/>
          <p:cNvSpPr/>
          <p:nvPr/>
        </p:nvSpPr>
        <p:spPr>
          <a:xfrm>
            <a:off x="457189" y="2637135"/>
            <a:ext cx="1304198" cy="457200"/>
          </a:xfrm>
          <a:prstGeom prst="rect">
            <a:avLst/>
          </a:prstGeom>
          <a:noFill/>
          <a:ln/>
        </p:spPr>
        <p:txBody>
          <a:bodyPr wrap="none" lIns="0" tIns="0" rIns="0" bIns="0" rtlCol="0" anchor="t"/>
          <a:lstStyle/>
          <a:p>
            <a:pPr marL="0" indent="0" algn="l">
              <a:lnSpc>
                <a:spcPct val="100000"/>
              </a:lnSpc>
              <a:buNone/>
            </a:pPr>
            <a:r>
              <a:rPr lang="en-US" sz="3000" b="1" dirty="0">
                <a:solidFill>
                  <a:srgbClr val="2B2F36"/>
                </a:solidFill>
                <a:latin typeface="Andika Bold" pitchFamily="34" charset="0"/>
                <a:ea typeface="Andika Bold" pitchFamily="34" charset="-122"/>
                <a:cs typeface="Andika Bold" pitchFamily="34" charset="-120"/>
              </a:rPr>
              <a:t>View</a:t>
            </a:r>
            <a:endParaRPr lang="en-US" sz="3000" dirty="0"/>
          </a:p>
        </p:txBody>
      </p:sp>
      <p:sp>
        <p:nvSpPr>
          <p:cNvPr id="10" name="Text 7"/>
          <p:cNvSpPr/>
          <p:nvPr/>
        </p:nvSpPr>
        <p:spPr>
          <a:xfrm>
            <a:off x="457189" y="3258344"/>
            <a:ext cx="1304198" cy="1139726"/>
          </a:xfrm>
          <a:prstGeom prst="rect">
            <a:avLst/>
          </a:prstGeom>
          <a:noFill/>
          <a:ln/>
        </p:spPr>
        <p:txBody>
          <a:bodyPr wrap="square" lIns="0" tIns="0" rIns="0" bIns="0" rtlCol="0" anchor="t">
            <a:normAutofit/>
          </a:bodyPr>
          <a:lstStyle/>
          <a:p>
            <a:pPr marL="0" indent="0" algn="l">
              <a:lnSpc>
                <a:spcPct val="113000"/>
              </a:lnSpc>
              <a:buNone/>
            </a:pPr>
            <a:r>
              <a:rPr lang="en-US" sz="2200" dirty="0">
                <a:solidFill>
                  <a:srgbClr val="5E636B"/>
                </a:solidFill>
                <a:latin typeface="Andika" pitchFamily="34" charset="0"/>
                <a:ea typeface="Andika" pitchFamily="34" charset="-122"/>
                <a:cs typeface="Andika" pitchFamily="34" charset="-120"/>
              </a:rPr>
              <a:t>Show the 2D seat layout.</a:t>
            </a:r>
            <a:endParaRPr lang="en-US" sz="2200" dirty="0"/>
          </a:p>
        </p:txBody>
      </p:sp>
      <p:sp>
        <p:nvSpPr>
          <p:cNvPr id="11" name="Text 8"/>
          <p:cNvSpPr/>
          <p:nvPr/>
        </p:nvSpPr>
        <p:spPr>
          <a:xfrm>
            <a:off x="2123327" y="1957685"/>
            <a:ext cx="952179" cy="330200"/>
          </a:xfrm>
          <a:prstGeom prst="rect">
            <a:avLst/>
          </a:prstGeom>
          <a:noFill/>
          <a:ln/>
        </p:spPr>
        <p:txBody>
          <a:bodyPr wrap="none" lIns="0" tIns="0" rIns="0" bIns="0" rtlCol="0" anchor="t"/>
          <a:lstStyle/>
          <a:p>
            <a:pPr marL="0" indent="0" algn="l">
              <a:lnSpc>
                <a:spcPct val="83000"/>
              </a:lnSpc>
              <a:buNone/>
            </a:pPr>
            <a:r>
              <a:rPr lang="en-US" sz="2600" b="1" dirty="0">
                <a:solidFill>
                  <a:srgbClr val="C8461A"/>
                </a:solidFill>
                <a:latin typeface="Andika Bold" pitchFamily="34" charset="0"/>
                <a:ea typeface="Andika Bold" pitchFamily="34" charset="-122"/>
                <a:cs typeface="Andika Bold" pitchFamily="34" charset="-120"/>
              </a:rPr>
              <a:t>02</a:t>
            </a:r>
            <a:endParaRPr lang="en-US" sz="2600" dirty="0"/>
          </a:p>
        </p:txBody>
      </p:sp>
      <p:sp>
        <p:nvSpPr>
          <p:cNvPr id="12" name="Shape 9"/>
          <p:cNvSpPr/>
          <p:nvPr/>
        </p:nvSpPr>
        <p:spPr>
          <a:xfrm>
            <a:off x="2123327" y="2419945"/>
            <a:ext cx="1361346" cy="19050"/>
          </a:xfrm>
          <a:prstGeom prst="rect">
            <a:avLst/>
          </a:prstGeom>
          <a:solidFill>
            <a:srgbClr val="C8461A"/>
          </a:solidFill>
          <a:ln/>
        </p:spPr>
      </p:sp>
      <p:sp>
        <p:nvSpPr>
          <p:cNvPr id="13" name="Text 10"/>
          <p:cNvSpPr/>
          <p:nvPr/>
        </p:nvSpPr>
        <p:spPr>
          <a:xfrm>
            <a:off x="2123327" y="2637135"/>
            <a:ext cx="1404307" cy="457200"/>
          </a:xfrm>
          <a:prstGeom prst="rect">
            <a:avLst/>
          </a:prstGeom>
          <a:noFill/>
          <a:ln/>
        </p:spPr>
        <p:txBody>
          <a:bodyPr wrap="none" lIns="0" tIns="0" rIns="0" bIns="0" rtlCol="0" anchor="t"/>
          <a:lstStyle/>
          <a:p>
            <a:pPr marL="0" indent="0" algn="l">
              <a:lnSpc>
                <a:spcPct val="100000"/>
              </a:lnSpc>
              <a:buNone/>
            </a:pPr>
            <a:r>
              <a:rPr lang="en-US" sz="3000" b="1" dirty="0">
                <a:solidFill>
                  <a:srgbClr val="2B2F36"/>
                </a:solidFill>
                <a:latin typeface="Andika Bold" pitchFamily="34" charset="0"/>
                <a:ea typeface="Andika Bold" pitchFamily="34" charset="-122"/>
                <a:cs typeface="Andika Bold" pitchFamily="34" charset="-120"/>
              </a:rPr>
              <a:t>Select</a:t>
            </a:r>
            <a:endParaRPr lang="en-US" sz="3000" dirty="0"/>
          </a:p>
        </p:txBody>
      </p:sp>
      <p:sp>
        <p:nvSpPr>
          <p:cNvPr id="14" name="Text 11"/>
          <p:cNvSpPr/>
          <p:nvPr/>
        </p:nvSpPr>
        <p:spPr>
          <a:xfrm>
            <a:off x="2123327" y="3258344"/>
            <a:ext cx="1361346" cy="1139726"/>
          </a:xfrm>
          <a:prstGeom prst="rect">
            <a:avLst/>
          </a:prstGeom>
          <a:noFill/>
          <a:ln/>
        </p:spPr>
        <p:txBody>
          <a:bodyPr wrap="square" lIns="0" tIns="0" rIns="0" bIns="0" rtlCol="0" anchor="t">
            <a:normAutofit/>
          </a:bodyPr>
          <a:lstStyle/>
          <a:p>
            <a:pPr marL="0" indent="0" algn="l">
              <a:lnSpc>
                <a:spcPct val="113000"/>
              </a:lnSpc>
              <a:buNone/>
            </a:pPr>
            <a:r>
              <a:rPr lang="en-US" sz="2200" dirty="0">
                <a:solidFill>
                  <a:srgbClr val="5E636B"/>
                </a:solidFill>
                <a:latin typeface="Andika" pitchFamily="34" charset="0"/>
                <a:ea typeface="Andika" pitchFamily="34" charset="-122"/>
                <a:cs typeface="Andika" pitchFamily="34" charset="-120"/>
              </a:rPr>
              <a:t>Validate availability.</a:t>
            </a:r>
            <a:endParaRPr lang="en-US" sz="2200" dirty="0"/>
          </a:p>
        </p:txBody>
      </p:sp>
      <p:sp>
        <p:nvSpPr>
          <p:cNvPr id="15" name="Text 12"/>
          <p:cNvSpPr/>
          <p:nvPr/>
        </p:nvSpPr>
        <p:spPr>
          <a:xfrm>
            <a:off x="3789367" y="1957685"/>
            <a:ext cx="952179" cy="330200"/>
          </a:xfrm>
          <a:prstGeom prst="rect">
            <a:avLst/>
          </a:prstGeom>
          <a:noFill/>
          <a:ln/>
        </p:spPr>
        <p:txBody>
          <a:bodyPr wrap="none" lIns="0" tIns="0" rIns="0" bIns="0" rtlCol="0" anchor="t"/>
          <a:lstStyle/>
          <a:p>
            <a:pPr marL="0" indent="0" algn="l">
              <a:lnSpc>
                <a:spcPct val="83000"/>
              </a:lnSpc>
              <a:buNone/>
            </a:pPr>
            <a:r>
              <a:rPr lang="en-US" sz="2600" b="1" dirty="0">
                <a:solidFill>
                  <a:srgbClr val="C8461A"/>
                </a:solidFill>
                <a:latin typeface="Andika Bold" pitchFamily="34" charset="0"/>
                <a:ea typeface="Andika Bold" pitchFamily="34" charset="-122"/>
                <a:cs typeface="Andika Bold" pitchFamily="34" charset="-120"/>
              </a:rPr>
              <a:t>03</a:t>
            </a:r>
            <a:endParaRPr lang="en-US" sz="2600" dirty="0"/>
          </a:p>
        </p:txBody>
      </p:sp>
      <p:sp>
        <p:nvSpPr>
          <p:cNvPr id="16" name="Shape 13"/>
          <p:cNvSpPr/>
          <p:nvPr/>
        </p:nvSpPr>
        <p:spPr>
          <a:xfrm>
            <a:off x="3789367" y="2419945"/>
            <a:ext cx="1361446" cy="19050"/>
          </a:xfrm>
          <a:prstGeom prst="rect">
            <a:avLst/>
          </a:prstGeom>
          <a:solidFill>
            <a:srgbClr val="C8461A"/>
          </a:solidFill>
          <a:ln/>
        </p:spPr>
      </p:sp>
      <p:sp>
        <p:nvSpPr>
          <p:cNvPr id="17" name="Text 14"/>
          <p:cNvSpPr/>
          <p:nvPr/>
        </p:nvSpPr>
        <p:spPr>
          <a:xfrm>
            <a:off x="3789367" y="2637135"/>
            <a:ext cx="1304297" cy="457200"/>
          </a:xfrm>
          <a:prstGeom prst="rect">
            <a:avLst/>
          </a:prstGeom>
          <a:noFill/>
          <a:ln/>
        </p:spPr>
        <p:txBody>
          <a:bodyPr wrap="none" lIns="0" tIns="0" rIns="0" bIns="0" rtlCol="0" anchor="t"/>
          <a:lstStyle/>
          <a:p>
            <a:pPr marL="0" indent="0" algn="l">
              <a:lnSpc>
                <a:spcPct val="100000"/>
              </a:lnSpc>
              <a:buNone/>
            </a:pPr>
            <a:r>
              <a:rPr lang="en-US" sz="3000" b="1" dirty="0">
                <a:solidFill>
                  <a:srgbClr val="2B2F36"/>
                </a:solidFill>
                <a:latin typeface="Andika Bold" pitchFamily="34" charset="0"/>
                <a:ea typeface="Andika Bold" pitchFamily="34" charset="-122"/>
                <a:cs typeface="Andika Bold" pitchFamily="34" charset="-120"/>
              </a:rPr>
              <a:t>Book</a:t>
            </a:r>
            <a:endParaRPr lang="en-US" sz="3000" dirty="0"/>
          </a:p>
        </p:txBody>
      </p:sp>
      <p:sp>
        <p:nvSpPr>
          <p:cNvPr id="18" name="Text 15"/>
          <p:cNvSpPr/>
          <p:nvPr/>
        </p:nvSpPr>
        <p:spPr>
          <a:xfrm>
            <a:off x="3789367" y="3258344"/>
            <a:ext cx="1304297" cy="1139726"/>
          </a:xfrm>
          <a:prstGeom prst="rect">
            <a:avLst/>
          </a:prstGeom>
          <a:noFill/>
          <a:ln/>
        </p:spPr>
        <p:txBody>
          <a:bodyPr wrap="square" lIns="0" tIns="0" rIns="0" bIns="0" rtlCol="0" anchor="t">
            <a:normAutofit/>
          </a:bodyPr>
          <a:lstStyle/>
          <a:p>
            <a:pPr marL="0" indent="0" algn="l">
              <a:lnSpc>
                <a:spcPct val="113000"/>
              </a:lnSpc>
              <a:buNone/>
            </a:pPr>
            <a:r>
              <a:rPr lang="en-US" sz="2200" dirty="0">
                <a:solidFill>
                  <a:srgbClr val="5E636B"/>
                </a:solidFill>
                <a:latin typeface="Andika" pitchFamily="34" charset="0"/>
                <a:ea typeface="Andika" pitchFamily="34" charset="-122"/>
                <a:cs typeface="Andika" pitchFamily="34" charset="-120"/>
              </a:rPr>
              <a:t>Update seat and history.</a:t>
            </a:r>
            <a:endParaRPr lang="en-US" sz="2200" dirty="0"/>
          </a:p>
        </p:txBody>
      </p:sp>
      <p:sp>
        <p:nvSpPr>
          <p:cNvPr id="19" name="Text 16"/>
          <p:cNvSpPr/>
          <p:nvPr/>
        </p:nvSpPr>
        <p:spPr>
          <a:xfrm>
            <a:off x="5455605" y="1957685"/>
            <a:ext cx="952179" cy="330200"/>
          </a:xfrm>
          <a:prstGeom prst="rect">
            <a:avLst/>
          </a:prstGeom>
          <a:noFill/>
          <a:ln/>
        </p:spPr>
        <p:txBody>
          <a:bodyPr wrap="none" lIns="0" tIns="0" rIns="0" bIns="0" rtlCol="0" anchor="t"/>
          <a:lstStyle/>
          <a:p>
            <a:pPr marL="0" indent="0" algn="l">
              <a:lnSpc>
                <a:spcPct val="83000"/>
              </a:lnSpc>
              <a:buNone/>
            </a:pPr>
            <a:r>
              <a:rPr lang="en-US" sz="2600" b="1" dirty="0">
                <a:solidFill>
                  <a:srgbClr val="C8461A"/>
                </a:solidFill>
                <a:latin typeface="Andika Bold" pitchFamily="34" charset="0"/>
                <a:ea typeface="Andika Bold" pitchFamily="34" charset="-122"/>
                <a:cs typeface="Andika Bold" pitchFamily="34" charset="-120"/>
              </a:rPr>
              <a:t>04</a:t>
            </a:r>
            <a:endParaRPr lang="en-US" sz="2600" dirty="0"/>
          </a:p>
        </p:txBody>
      </p:sp>
      <p:sp>
        <p:nvSpPr>
          <p:cNvPr id="20" name="Shape 17"/>
          <p:cNvSpPr/>
          <p:nvPr/>
        </p:nvSpPr>
        <p:spPr>
          <a:xfrm>
            <a:off x="5455605" y="2419945"/>
            <a:ext cx="1361346" cy="19050"/>
          </a:xfrm>
          <a:prstGeom prst="rect">
            <a:avLst/>
          </a:prstGeom>
          <a:solidFill>
            <a:srgbClr val="C8461A"/>
          </a:solidFill>
          <a:ln/>
        </p:spPr>
      </p:sp>
      <p:sp>
        <p:nvSpPr>
          <p:cNvPr id="21" name="Text 18"/>
          <p:cNvSpPr/>
          <p:nvPr/>
        </p:nvSpPr>
        <p:spPr>
          <a:xfrm>
            <a:off x="5455605" y="2637135"/>
            <a:ext cx="1304198" cy="457200"/>
          </a:xfrm>
          <a:prstGeom prst="rect">
            <a:avLst/>
          </a:prstGeom>
          <a:noFill/>
          <a:ln/>
        </p:spPr>
        <p:txBody>
          <a:bodyPr wrap="none" lIns="0" tIns="0" rIns="0" bIns="0" rtlCol="0" anchor="t"/>
          <a:lstStyle/>
          <a:p>
            <a:pPr marL="0" indent="0" algn="l">
              <a:lnSpc>
                <a:spcPct val="100000"/>
              </a:lnSpc>
              <a:buNone/>
            </a:pPr>
            <a:r>
              <a:rPr lang="en-US" sz="3000" b="1" dirty="0">
                <a:solidFill>
                  <a:srgbClr val="2B2F36"/>
                </a:solidFill>
                <a:latin typeface="Andika Bold" pitchFamily="34" charset="0"/>
                <a:ea typeface="Andika Bold" pitchFamily="34" charset="-122"/>
                <a:cs typeface="Andika Bold" pitchFamily="34" charset="-120"/>
              </a:rPr>
              <a:t>Pay</a:t>
            </a:r>
            <a:endParaRPr lang="en-US" sz="3000" dirty="0"/>
          </a:p>
        </p:txBody>
      </p:sp>
      <p:sp>
        <p:nvSpPr>
          <p:cNvPr id="22" name="Text 19"/>
          <p:cNvSpPr/>
          <p:nvPr/>
        </p:nvSpPr>
        <p:spPr>
          <a:xfrm>
            <a:off x="5455605" y="3258344"/>
            <a:ext cx="1304198" cy="1519634"/>
          </a:xfrm>
          <a:prstGeom prst="rect">
            <a:avLst/>
          </a:prstGeom>
          <a:noFill/>
          <a:ln/>
        </p:spPr>
        <p:txBody>
          <a:bodyPr wrap="square" lIns="0" tIns="0" rIns="0" bIns="0" rtlCol="0" anchor="t">
            <a:normAutofit/>
          </a:bodyPr>
          <a:lstStyle/>
          <a:p>
            <a:pPr marL="0" indent="0" algn="l">
              <a:lnSpc>
                <a:spcPct val="113000"/>
              </a:lnSpc>
              <a:buNone/>
            </a:pPr>
            <a:r>
              <a:rPr lang="en-US" sz="2200" dirty="0">
                <a:solidFill>
                  <a:srgbClr val="5E636B"/>
                </a:solidFill>
                <a:latin typeface="Andika" pitchFamily="34" charset="0"/>
                <a:ea typeface="Andika" pitchFamily="34" charset="-122"/>
                <a:cs typeface="Andika" pitchFamily="34" charset="-120"/>
              </a:rPr>
              <a:t>Price ticket; print receipt.</a:t>
            </a:r>
            <a:endParaRPr lang="en-US" sz="2200" dirty="0"/>
          </a:p>
        </p:txBody>
      </p:sp>
      <p:sp>
        <p:nvSpPr>
          <p:cNvPr id="23" name="Text 20"/>
          <p:cNvSpPr/>
          <p:nvPr/>
        </p:nvSpPr>
        <p:spPr>
          <a:xfrm>
            <a:off x="7121843" y="1957685"/>
            <a:ext cx="952179" cy="330200"/>
          </a:xfrm>
          <a:prstGeom prst="rect">
            <a:avLst/>
          </a:prstGeom>
          <a:noFill/>
          <a:ln/>
        </p:spPr>
        <p:txBody>
          <a:bodyPr wrap="none" lIns="0" tIns="0" rIns="0" bIns="0" rtlCol="0" anchor="t"/>
          <a:lstStyle/>
          <a:p>
            <a:pPr marL="0" indent="0" algn="l">
              <a:lnSpc>
                <a:spcPct val="83000"/>
              </a:lnSpc>
              <a:buNone/>
            </a:pPr>
            <a:r>
              <a:rPr lang="en-US" sz="2600" b="1" dirty="0">
                <a:solidFill>
                  <a:srgbClr val="C8461A"/>
                </a:solidFill>
                <a:latin typeface="Andika Bold" pitchFamily="34" charset="0"/>
                <a:ea typeface="Andika Bold" pitchFamily="34" charset="-122"/>
                <a:cs typeface="Andika Bold" pitchFamily="34" charset="-120"/>
              </a:rPr>
              <a:t>05</a:t>
            </a:r>
            <a:endParaRPr lang="en-US" sz="2600" dirty="0"/>
          </a:p>
        </p:txBody>
      </p:sp>
      <p:sp>
        <p:nvSpPr>
          <p:cNvPr id="24" name="Shape 21"/>
          <p:cNvSpPr/>
          <p:nvPr/>
        </p:nvSpPr>
        <p:spPr>
          <a:xfrm>
            <a:off x="7121843" y="2419945"/>
            <a:ext cx="1361346" cy="19050"/>
          </a:xfrm>
          <a:prstGeom prst="rect">
            <a:avLst/>
          </a:prstGeom>
          <a:solidFill>
            <a:srgbClr val="C8461A"/>
          </a:solidFill>
          <a:ln/>
        </p:spPr>
      </p:sp>
      <p:sp>
        <p:nvSpPr>
          <p:cNvPr id="25" name="Text 22"/>
          <p:cNvSpPr/>
          <p:nvPr/>
        </p:nvSpPr>
        <p:spPr>
          <a:xfrm>
            <a:off x="7121843" y="2637135"/>
            <a:ext cx="1506103" cy="457200"/>
          </a:xfrm>
          <a:prstGeom prst="rect">
            <a:avLst/>
          </a:prstGeom>
          <a:noFill/>
          <a:ln/>
        </p:spPr>
        <p:txBody>
          <a:bodyPr wrap="none" lIns="0" tIns="0" rIns="0" bIns="0" rtlCol="0" anchor="t"/>
          <a:lstStyle/>
          <a:p>
            <a:pPr marL="0" indent="0" algn="l">
              <a:lnSpc>
                <a:spcPct val="100000"/>
              </a:lnSpc>
              <a:buNone/>
            </a:pPr>
            <a:r>
              <a:rPr lang="en-US" sz="3000" b="1" dirty="0">
                <a:solidFill>
                  <a:srgbClr val="2B2F36"/>
                </a:solidFill>
                <a:latin typeface="Andika Bold" pitchFamily="34" charset="0"/>
                <a:ea typeface="Andika Bold" pitchFamily="34" charset="-122"/>
                <a:cs typeface="Andika Bold" pitchFamily="34" charset="-120"/>
              </a:rPr>
              <a:t>Cancel</a:t>
            </a:r>
            <a:endParaRPr lang="en-US" sz="3000" dirty="0"/>
          </a:p>
        </p:txBody>
      </p:sp>
      <p:sp>
        <p:nvSpPr>
          <p:cNvPr id="26" name="Text 23"/>
          <p:cNvSpPr/>
          <p:nvPr/>
        </p:nvSpPr>
        <p:spPr>
          <a:xfrm>
            <a:off x="7121843" y="3258344"/>
            <a:ext cx="1304198" cy="1139726"/>
          </a:xfrm>
          <a:prstGeom prst="rect">
            <a:avLst/>
          </a:prstGeom>
          <a:noFill/>
          <a:ln/>
        </p:spPr>
        <p:txBody>
          <a:bodyPr wrap="square" lIns="0" tIns="0" rIns="0" bIns="0" rtlCol="0" anchor="t">
            <a:normAutofit/>
          </a:bodyPr>
          <a:lstStyle/>
          <a:p>
            <a:pPr marL="0" indent="0" algn="l">
              <a:lnSpc>
                <a:spcPct val="113000"/>
              </a:lnSpc>
              <a:buNone/>
            </a:pPr>
            <a:r>
              <a:rPr lang="en-US" sz="2200" dirty="0">
                <a:solidFill>
                  <a:srgbClr val="5E636B"/>
                </a:solidFill>
                <a:latin typeface="Andika" pitchFamily="34" charset="0"/>
                <a:ea typeface="Andika" pitchFamily="34" charset="-122"/>
                <a:cs typeface="Andika" pitchFamily="34" charset="-120"/>
              </a:rPr>
              <a:t>Release and refresh.</a:t>
            </a:r>
            <a:endParaRPr lang="en-US" sz="2200" dirty="0"/>
          </a:p>
        </p:txBody>
      </p:sp>
      <p:sp>
        <p:nvSpPr>
          <p:cNvPr id="27" name="Text 24"/>
          <p:cNvSpPr/>
          <p:nvPr/>
        </p:nvSpPr>
        <p:spPr>
          <a:xfrm>
            <a:off x="457189" y="5060057"/>
            <a:ext cx="3727357" cy="457200"/>
          </a:xfrm>
          <a:prstGeom prst="rect">
            <a:avLst/>
          </a:prstGeom>
          <a:noFill/>
          <a:ln/>
        </p:spPr>
        <p:txBody>
          <a:bodyPr wrap="none" lIns="0" tIns="0" rIns="0" bIns="0" rtlCol="0" anchor="t"/>
          <a:lstStyle/>
          <a:p>
            <a:pPr marL="0" indent="0" algn="l">
              <a:lnSpc>
                <a:spcPct val="100000"/>
              </a:lnSpc>
              <a:buNone/>
            </a:pPr>
            <a:r>
              <a:rPr lang="en-US" sz="3000" b="1" dirty="0">
                <a:solidFill>
                  <a:srgbClr val="2B2F36"/>
                </a:solidFill>
                <a:latin typeface="Andika Bold" pitchFamily="34" charset="0"/>
                <a:ea typeface="Andika Bold" pitchFamily="34" charset="-122"/>
                <a:cs typeface="Andika Bold" pitchFamily="34" charset="-120"/>
              </a:rPr>
              <a:t>Core Java</a:t>
            </a:r>
            <a:endParaRPr lang="en-US" sz="3000" dirty="0"/>
          </a:p>
        </p:txBody>
      </p:sp>
      <p:sp>
        <p:nvSpPr>
          <p:cNvPr id="28" name="Text 25"/>
          <p:cNvSpPr/>
          <p:nvPr/>
        </p:nvSpPr>
        <p:spPr>
          <a:xfrm>
            <a:off x="457189" y="5681266"/>
            <a:ext cx="3727357" cy="2279452"/>
          </a:xfrm>
          <a:prstGeom prst="rect">
            <a:avLst/>
          </a:prstGeom>
          <a:noFill/>
          <a:ln/>
        </p:spPr>
        <p:txBody>
          <a:bodyPr wrap="square" lIns="0" tIns="0" rIns="0" bIns="0" rtlCol="0" anchor="t">
            <a:normAutofit/>
          </a:bodyPr>
          <a:lstStyle/>
          <a:p>
            <a:pPr marL="0" indent="0" algn="l">
              <a:lnSpc>
                <a:spcPct val="113000"/>
              </a:lnSpc>
              <a:buNone/>
            </a:pPr>
            <a:r>
              <a:rPr lang="en-US" sz="1400" b="1" dirty="0">
                <a:solidFill>
                  <a:srgbClr val="5E636B"/>
                </a:solidFill>
                <a:latin typeface="Andika Bold" pitchFamily="34" charset="0"/>
                <a:ea typeface="Andika Bold" pitchFamily="34" charset="-122"/>
                <a:cs typeface="Andika Bold" pitchFamily="34" charset="-120"/>
              </a:rPr>
              <a:t>Classes + objects</a:t>
            </a:r>
            <a:r>
              <a:rPr lang="en-US" sz="1400" dirty="0">
                <a:solidFill>
                  <a:srgbClr val="5E636B"/>
                </a:solidFill>
                <a:latin typeface="Andika" pitchFamily="34" charset="0"/>
                <a:ea typeface="Andika" pitchFamily="34" charset="-122"/>
                <a:cs typeface="Andika" pitchFamily="34" charset="-120"/>
              </a:rPr>
              <a:t> model bookings. </a:t>
            </a:r>
            <a:r>
              <a:rPr lang="en-US" sz="1400" b="1" dirty="0">
                <a:solidFill>
                  <a:srgbClr val="5E636B"/>
                </a:solidFill>
                <a:latin typeface="Andika Bold" pitchFamily="34" charset="0"/>
                <a:ea typeface="Andika Bold" pitchFamily="34" charset="-122"/>
                <a:cs typeface="Andika Bold" pitchFamily="34" charset="-120"/>
              </a:rPr>
              <a:t>Conditions + loops</a:t>
            </a:r>
            <a:r>
              <a:rPr lang="en-US" sz="1400" dirty="0">
                <a:solidFill>
                  <a:srgbClr val="5E636B"/>
                </a:solidFill>
                <a:latin typeface="Andika" pitchFamily="34" charset="0"/>
                <a:ea typeface="Andika" pitchFamily="34" charset="-122"/>
                <a:cs typeface="Andika" pitchFamily="34" charset="-120"/>
              </a:rPr>
              <a:t> validate input. </a:t>
            </a:r>
            <a:r>
              <a:rPr lang="en-US" sz="1400" b="1" dirty="0">
                <a:solidFill>
                  <a:srgbClr val="5E636B"/>
                </a:solidFill>
                <a:latin typeface="Andika Bold" pitchFamily="34" charset="0"/>
                <a:ea typeface="Andika Bold" pitchFamily="34" charset="-122"/>
                <a:cs typeface="Andika Bold" pitchFamily="34" charset="-120"/>
              </a:rPr>
              <a:t>Arrays + ArrayLists</a:t>
            </a:r>
            <a:r>
              <a:rPr lang="en-US" sz="1400" dirty="0">
                <a:solidFill>
                  <a:srgbClr val="5E636B"/>
                </a:solidFill>
                <a:latin typeface="Andika" pitchFamily="34" charset="0"/>
                <a:ea typeface="Andika" pitchFamily="34" charset="-122"/>
                <a:cs typeface="Andika" pitchFamily="34" charset="-120"/>
              </a:rPr>
              <a:t> hold layout and history. </a:t>
            </a:r>
            <a:r>
              <a:rPr lang="en-US" sz="1400" b="1" dirty="0">
                <a:solidFill>
                  <a:srgbClr val="5E636B"/>
                </a:solidFill>
                <a:latin typeface="Andika Bold" pitchFamily="34" charset="0"/>
                <a:ea typeface="Andika Bold" pitchFamily="34" charset="-122"/>
                <a:cs typeface="Andika Bold" pitchFamily="34" charset="-120"/>
              </a:rPr>
              <a:t>Switch</a:t>
            </a:r>
            <a:r>
              <a:rPr lang="en-US" sz="1400" dirty="0">
                <a:solidFill>
                  <a:srgbClr val="5E636B"/>
                </a:solidFill>
                <a:latin typeface="Andika" pitchFamily="34" charset="0"/>
                <a:ea typeface="Andika" pitchFamily="34" charset="-122"/>
                <a:cs typeface="Andika" pitchFamily="34" charset="-120"/>
              </a:rPr>
              <a:t> drives </a:t>
            </a:r>
            <a:r>
              <a:rPr lang="en-US" sz="2200" dirty="0">
                <a:solidFill>
                  <a:srgbClr val="5E636B"/>
                </a:solidFill>
                <a:latin typeface="Andika" pitchFamily="34" charset="0"/>
                <a:ea typeface="Andika" pitchFamily="34" charset="-122"/>
                <a:cs typeface="Andika" pitchFamily="34" charset="-120"/>
              </a:rPr>
              <a:t>the menu.</a:t>
            </a:r>
            <a:endParaRPr lang="en-US" sz="2200" dirty="0"/>
          </a:p>
        </p:txBody>
      </p:sp>
      <p:sp>
        <p:nvSpPr>
          <p:cNvPr id="29" name="Text 26"/>
          <p:cNvSpPr/>
          <p:nvPr/>
        </p:nvSpPr>
        <p:spPr>
          <a:xfrm>
            <a:off x="4698882" y="5060057"/>
            <a:ext cx="3727357" cy="457200"/>
          </a:xfrm>
          <a:prstGeom prst="rect">
            <a:avLst/>
          </a:prstGeom>
          <a:noFill/>
          <a:ln/>
        </p:spPr>
        <p:txBody>
          <a:bodyPr wrap="none" lIns="0" tIns="0" rIns="0" bIns="0" rtlCol="0" anchor="t"/>
          <a:lstStyle/>
          <a:p>
            <a:pPr marL="0" indent="0" algn="l">
              <a:lnSpc>
                <a:spcPct val="100000"/>
              </a:lnSpc>
              <a:buNone/>
            </a:pPr>
            <a:r>
              <a:rPr lang="en-US" sz="3000" b="1" dirty="0">
                <a:solidFill>
                  <a:srgbClr val="2B2F36"/>
                </a:solidFill>
                <a:latin typeface="Andika Bold" pitchFamily="34" charset="0"/>
                <a:ea typeface="Andika Bold" pitchFamily="34" charset="-122"/>
                <a:cs typeface="Andika Bold" pitchFamily="34" charset="-120"/>
              </a:rPr>
              <a:t>Future scope</a:t>
            </a:r>
            <a:endParaRPr lang="en-US" sz="3000" dirty="0"/>
          </a:p>
        </p:txBody>
      </p:sp>
      <p:sp>
        <p:nvSpPr>
          <p:cNvPr id="30" name="Text 27"/>
          <p:cNvSpPr/>
          <p:nvPr/>
        </p:nvSpPr>
        <p:spPr>
          <a:xfrm>
            <a:off x="4698882" y="5681266"/>
            <a:ext cx="3727357" cy="1899543"/>
          </a:xfrm>
          <a:prstGeom prst="rect">
            <a:avLst/>
          </a:prstGeom>
          <a:noFill/>
          <a:ln/>
        </p:spPr>
        <p:txBody>
          <a:bodyPr wrap="square" lIns="0" tIns="0" rIns="0" bIns="0" rtlCol="0" anchor="t">
            <a:normAutofit/>
          </a:bodyPr>
          <a:lstStyle/>
          <a:p>
            <a:pPr marL="0" indent="0" algn="l">
              <a:lnSpc>
                <a:spcPct val="113000"/>
              </a:lnSpc>
              <a:buNone/>
            </a:pPr>
            <a:r>
              <a:rPr lang="en-US" sz="1600" b="1" dirty="0">
                <a:solidFill>
                  <a:srgbClr val="5E636B"/>
                </a:solidFill>
                <a:latin typeface="Andika Bold" pitchFamily="34" charset="0"/>
                <a:ea typeface="Andika Bold" pitchFamily="34" charset="-122"/>
                <a:cs typeface="Andika Bold" pitchFamily="34" charset="-120"/>
              </a:rPr>
              <a:t>Next:</a:t>
            </a:r>
            <a:r>
              <a:rPr lang="en-US" sz="1600" dirty="0">
                <a:solidFill>
                  <a:srgbClr val="5E636B"/>
                </a:solidFill>
                <a:latin typeface="Andika" pitchFamily="34" charset="0"/>
                <a:ea typeface="Andika" pitchFamily="34" charset="-122"/>
                <a:cs typeface="Andika" pitchFamily="34" charset="-120"/>
              </a:rPr>
              <a:t> group booking, tiered pricing, seat recommendations, and multiple movies with show timings.</a:t>
            </a:r>
            <a:endParaRPr lang="en-US" sz="1600" dirty="0"/>
          </a:p>
        </p:txBody>
      </p:sp>
      <p:sp>
        <p:nvSpPr>
          <p:cNvPr id="31" name="Shape 28"/>
          <p:cNvSpPr/>
          <p:nvPr/>
        </p:nvSpPr>
        <p:spPr>
          <a:xfrm>
            <a:off x="8940576" y="0"/>
            <a:ext cx="3250920" cy="8440539"/>
          </a:xfrm>
          <a:prstGeom prst="rect">
            <a:avLst/>
          </a:prstGeom>
          <a:solidFill>
            <a:srgbClr val="FFFFFF">
              <a:alpha val="15000"/>
            </a:srgbClr>
          </a:solidFill>
          <a:ln/>
        </p:spPr>
      </p:sp>
      <p:sp>
        <p:nvSpPr>
          <p:cNvPr id="32" name="Shape 29"/>
          <p:cNvSpPr/>
          <p:nvPr/>
        </p:nvSpPr>
        <p:spPr>
          <a:xfrm>
            <a:off x="8942957" y="-1582539"/>
            <a:ext cx="3251119" cy="8440539"/>
          </a:xfrm>
          <a:prstGeom prst="rect">
            <a:avLst/>
          </a:prstGeom>
          <a:solidFill>
            <a:srgbClr val="E2E8F0"/>
          </a:solidFill>
          <a:ln/>
        </p:spPr>
      </p:sp>
      <p:sp>
        <p:nvSpPr>
          <p:cNvPr id="33" name="Shape 30"/>
          <p:cNvSpPr/>
          <p:nvPr/>
        </p:nvSpPr>
        <p:spPr>
          <a:xfrm rot="4110000">
            <a:off x="10427531" y="4123630"/>
            <a:ext cx="592916" cy="25400"/>
          </a:xfrm>
          <a:prstGeom prst="rect">
            <a:avLst/>
          </a:prstGeom>
          <a:solidFill>
            <a:srgbClr val="CACACB"/>
          </a:solidFill>
          <a:ln/>
        </p:spPr>
      </p:sp>
      <p:sp>
        <p:nvSpPr>
          <p:cNvPr id="34" name="Shape 31"/>
          <p:cNvSpPr/>
          <p:nvPr/>
        </p:nvSpPr>
        <p:spPr>
          <a:xfrm rot="4110000">
            <a:off x="10551253" y="4207966"/>
            <a:ext cx="25399" cy="592931"/>
          </a:xfrm>
          <a:prstGeom prst="rect">
            <a:avLst/>
          </a:prstGeom>
          <a:solidFill>
            <a:srgbClr val="CACACB"/>
          </a:solidFill>
          <a:ln/>
        </p:spPr>
      </p:sp>
      <p:sp>
        <p:nvSpPr>
          <p:cNvPr id="35" name="Text 32"/>
          <p:cNvSpPr/>
          <p:nvPr/>
        </p:nvSpPr>
        <p:spPr>
          <a:xfrm rot="13366800">
            <a:off x="10700612" y="3781584"/>
            <a:ext cx="1483382" cy="462260"/>
          </a:xfrm>
          <a:prstGeom prst="rect">
            <a:avLst/>
          </a:prstGeom>
          <a:noFill/>
          <a:ln/>
        </p:spPr>
        <p:txBody>
          <a:bodyPr wrap="none" lIns="0" tIns="0" rIns="0" bIns="0" rtlCol="0" anchor="t"/>
          <a:lstStyle/>
          <a:p>
            <a:pPr marL="0" indent="0" algn="l">
              <a:lnSpc>
                <a:spcPct val="117000"/>
              </a:lnSpc>
              <a:buNone/>
            </a:pPr>
            <a:r>
              <a:rPr lang="en-US" sz="2600" dirty="0">
                <a:solidFill>
                  <a:srgbClr val="CACACB"/>
                </a:solidFill>
                <a:latin typeface="Andika" pitchFamily="34" charset="0"/>
                <a:ea typeface="Andika" pitchFamily="34" charset="-122"/>
                <a:cs typeface="Andika" pitchFamily="34" charset="-120"/>
              </a:rPr>
              <a:t>Loading...</a:t>
            </a:r>
            <a:endParaRPr lang="en-US" sz="2600" dirty="0"/>
          </a:p>
        </p:txBody>
      </p:sp>
      <p:pic>
        <p:nvPicPr>
          <p:cNvPr id="36" name="Image 1" descr="preencoded.png"/>
          <p:cNvPicPr>
            <a:picLocks noChangeAspect="1"/>
          </p:cNvPicPr>
          <p:nvPr/>
        </p:nvPicPr>
        <p:blipFill>
          <a:blip r:embed="rId4"/>
          <a:stretch>
            <a:fillRect/>
          </a:stretch>
        </p:blipFill>
        <p:spPr>
          <a:xfrm>
            <a:off x="10430705" y="4115395"/>
            <a:ext cx="269670" cy="222845"/>
          </a:xfrm>
          <a:prstGeom prst="rect">
            <a:avLst/>
          </a:prstGeom>
        </p:spPr>
      </p:pic>
      <p:sp>
        <p:nvSpPr>
          <p:cNvPr id="37" name="Shape 33"/>
          <p:cNvSpPr/>
          <p:nvPr/>
        </p:nvSpPr>
        <p:spPr>
          <a:xfrm>
            <a:off x="4463938" y="5060057"/>
            <a:ext cx="12700" cy="2923282"/>
          </a:xfrm>
          <a:prstGeom prst="rect">
            <a:avLst/>
          </a:prstGeom>
          <a:solidFill>
            <a:srgbClr val="3C6E9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3608</TotalTime>
  <Words>337</Words>
  <Application>Microsoft Office PowerPoint</Application>
  <PresentationFormat>Widescreen</PresentationFormat>
  <Paragraphs>45</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Patrick Hand</vt:lpstr>
      <vt:lpstr>Arial</vt:lpstr>
      <vt:lpstr>Andika</vt:lpstr>
      <vt:lpstr>Andika Bold</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vayyala dhikshitha</cp:lastModifiedBy>
  <cp:revision>2</cp:revision>
  <dcterms:created xsi:type="dcterms:W3CDTF">2026-09-23T03:10:11Z</dcterms:created>
  <dcterms:modified xsi:type="dcterms:W3CDTF">2026-09-25T15:19:09Z</dcterms:modified>
</cp:coreProperties>
</file>